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Heebo Light"/>
      <p:regular r:id="rId21"/>
    </p:embeddedFont>
    <p:embeddedFont>
      <p:font typeface="Heebo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6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Business Insights Using Fitbit Fitness Tracker Data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Marketing &amp; Customer Segmentation Solutions for WeFit and Its Subsidiaries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337" y="508754"/>
            <a:ext cx="1653421" cy="322659"/>
          </a:xfrm>
          <a:prstGeom prst="roundRect">
            <a:avLst>
              <a:gd name="adj" fmla="val 19127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1088469" y="563761"/>
            <a:ext cx="143315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COMPANY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78337" y="890826"/>
            <a:ext cx="8210669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WeFit: A Unicorn Fitness Ecosystem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337" y="1855113"/>
            <a:ext cx="8081010" cy="4506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15118" y="3443764"/>
            <a:ext cx="4144447" cy="132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Founded by Rohit and Anjali Shah, WeFit has achieved unicorn status with a valuation exceeding $1 billion. The company has built a comprehensive fitness ecosystem serving diverse customer needs across multiple touchpoints.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78337" y="6696313"/>
            <a:ext cx="3056811" cy="1024414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69551" y="6887528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Gear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69551" y="7263646"/>
            <a:ext cx="267438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Premium equipment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83856" y="6696313"/>
            <a:ext cx="3056930" cy="1024414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75071" y="6887528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Apps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75071" y="7263646"/>
            <a:ext cx="2674501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Digital training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89495" y="6696313"/>
            <a:ext cx="3056930" cy="1024414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0709" y="6887528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Diet Plans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80709" y="7263646"/>
            <a:ext cx="2674501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Personalised nutrition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595134" y="6696313"/>
            <a:ext cx="3056930" cy="1024414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6348" y="6887528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 Training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786348" y="7263646"/>
            <a:ext cx="2674501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Expert coaching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6397"/>
            <a:ext cx="219360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772001"/>
            <a:ext cx="19061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STRATEGIC OBJECTIVE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8606"/>
            <a:ext cx="10820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Objective &amp; Subsidiary Focus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2775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Leveraging Fitbit smart device usage trends to develop precision marketing strategies and drive customer acquisition across three key business units.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58502"/>
            <a:ext cx="2411968" cy="2411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953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LeanFit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44437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Personalised weight-loss diet plans targeting health-conscious consumers seeking sustainable fitness solutions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58502"/>
            <a:ext cx="2411968" cy="2411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5953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FitWear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644437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Fitness gear and apparel transitioning to online expansion with data-driven product recommendations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58502"/>
            <a:ext cx="2411968" cy="24119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5953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Sleepy-Nights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4437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Sleep scheduling app subscriptions focusing on users with irregular sleep patterns and quality concerns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33751"/>
            <a:ext cx="1301829" cy="426244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556147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01735"/>
            <a:ext cx="75747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DATASET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950720"/>
            <a:ext cx="110294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Fitbit Fitness Tracker Dataset Overview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2999661"/>
            <a:ext cx="4531876" cy="3796070"/>
          </a:xfrm>
          <a:prstGeom prst="roundRect">
            <a:avLst>
              <a:gd name="adj" fmla="val 4302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3226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Specifications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3807619"/>
            <a:ext cx="40782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Source: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Kaggle – Möbius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57250" y="4374594"/>
            <a:ext cx="40782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License: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CC0 Public Domain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57250" y="4941570"/>
            <a:ext cx="40782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Period: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12 March – 12 May 2016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57250" y="5508546"/>
            <a:ext cx="40782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Sample Size: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30 Fitbit users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559981" y="3226475"/>
            <a:ext cx="36322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Categories Analysed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3956447"/>
            <a:ext cx="113348" cy="1133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00142" y="3835956"/>
            <a:ext cx="2936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Activity Metrics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900142" y="4417100"/>
            <a:ext cx="36601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Steps, calories, distance, and intensity levels tracked continuously</a:t>
            </a:r>
            <a:endParaRPr lang="en-US" sz="1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730" y="3956447"/>
            <a:ext cx="113348" cy="1133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83892" y="3835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Sleep Data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183892" y="4417100"/>
            <a:ext cx="36602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Sleep duration, time in bed, and sleep efficiency patterns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981" y="5717024"/>
            <a:ext cx="113348" cy="1133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00142" y="5596533"/>
            <a:ext cx="3346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Physiological Indicators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900142" y="6177677"/>
            <a:ext cx="79439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Heart rate variability and weight logs for health assessment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8295"/>
            <a:ext cx="71292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07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Nine critical metrics form the foundation of our customer segmentation and targeting strategy, enabling precise identification of user behaviour patterns.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79165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69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Steps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5994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Daily step count indicating overall activity levels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79165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3008" y="2869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Calories Burned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73008" y="335994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Energy expenditure measurement for fitness tracking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791658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15111" y="2869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Active Minutes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415111" y="335994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High-intensity exercise duration per day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539377"/>
            <a:ext cx="453628" cy="453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4617244"/>
            <a:ext cx="2928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Fairly Active Minutes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10766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Moderate-intensity activity duration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539377"/>
            <a:ext cx="453628" cy="4536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73008" y="4617244"/>
            <a:ext cx="31437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Lightly Active Minutes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5973008" y="510766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Low-intensity movement throughout the day</a:t>
            </a:r>
            <a:endParaRPr lang="en-US" sz="1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7995" y="4539377"/>
            <a:ext cx="453628" cy="4536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415111" y="4617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Distance Travelled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10415111" y="510766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distance covered during activities</a:t>
            </a:r>
            <a:endParaRPr lang="en-US" sz="17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6287095"/>
            <a:ext cx="453628" cy="4536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530906" y="6364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Sleep Duration</a:t>
            </a:r>
            <a:endParaRPr lang="en-US" sz="2200" dirty="0"/>
          </a:p>
        </p:txBody>
      </p:sp>
      <p:sp>
        <p:nvSpPr>
          <p:cNvPr id="24" name="Text 15"/>
          <p:cNvSpPr/>
          <p:nvPr/>
        </p:nvSpPr>
        <p:spPr>
          <a:xfrm>
            <a:off x="1530906" y="685538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hours of sleep recorded nightly</a:t>
            </a:r>
            <a:endParaRPr lang="en-US" sz="17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35893" y="6287095"/>
            <a:ext cx="453628" cy="4536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973008" y="6364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in Bed</a:t>
            </a:r>
            <a:endParaRPr lang="en-US" sz="2200" dirty="0"/>
          </a:p>
        </p:txBody>
      </p:sp>
      <p:sp>
        <p:nvSpPr>
          <p:cNvPr id="27" name="Text 17"/>
          <p:cNvSpPr/>
          <p:nvPr/>
        </p:nvSpPr>
        <p:spPr>
          <a:xfrm>
            <a:off x="5973008" y="685538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time spent in bed versus actual sleep</a:t>
            </a:r>
            <a:endParaRPr lang="en-US" sz="17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77995" y="6287095"/>
            <a:ext cx="453628" cy="45362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415111" y="6364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Heart Rate</a:t>
            </a:r>
            <a:endParaRPr lang="en-US" sz="2200" dirty="0"/>
          </a:p>
        </p:txBody>
      </p:sp>
      <p:sp>
        <p:nvSpPr>
          <p:cNvPr id="30" name="Text 19"/>
          <p:cNvSpPr/>
          <p:nvPr/>
        </p:nvSpPr>
        <p:spPr>
          <a:xfrm>
            <a:off x="10415111" y="685538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Cardiovascular health indicator and intensity marker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0810" y="455295"/>
            <a:ext cx="890587" cy="275153"/>
          </a:xfrm>
          <a:prstGeom prst="roundRect">
            <a:avLst>
              <a:gd name="adj" fmla="val 19802"/>
            </a:avLst>
          </a:prstGeom>
          <a:solidFill>
            <a:srgbClr val="1E0C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084" y="528042"/>
            <a:ext cx="129659" cy="129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2513" y="503873"/>
            <a:ext cx="50161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LEANFIT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92360" y="447675"/>
            <a:ext cx="927497" cy="290393"/>
          </a:xfrm>
          <a:prstGeom prst="roundRect">
            <a:avLst>
              <a:gd name="adj" fmla="val 18762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97254" y="503873"/>
            <a:ext cx="717709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SCENARIO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0810" y="784384"/>
            <a:ext cx="8612386" cy="50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LeanFit: Targeting Weight-Loss Customers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1720810" y="3064431"/>
            <a:ext cx="2026920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Challenge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20810" y="3433524"/>
            <a:ext cx="3658910" cy="133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LeanFit has experienced declining sales in personalised weight-loss diet plans despite growing market demand. The objective is to identify high-potential customers most likely to invest in structured weight management programmes.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720810" y="4883825"/>
            <a:ext cx="3266718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Classification Framework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66" y="1595318"/>
            <a:ext cx="7134225" cy="44617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59543" y="3734975"/>
            <a:ext cx="1470851" cy="24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Obesity Risk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614222" y="5498051"/>
            <a:ext cx="1470852" cy="49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Blood Pressure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269313" y="3734016"/>
            <a:ext cx="1470851" cy="24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Heart Rate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614222" y="1784430"/>
            <a:ext cx="1470852" cy="24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82866" y="6187440"/>
            <a:ext cx="7134225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Elevated heart rate exceeding 185 bpm combined with higher BMI ranges indicates increased cardiovascular risk, creating urgency for structured weight-loss intervention.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720810" y="6866930"/>
            <a:ext cx="3652361" cy="914995"/>
          </a:xfrm>
          <a:prstGeom prst="roundRect">
            <a:avLst>
              <a:gd name="adj" fmla="val 7443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905714" y="7051834"/>
            <a:ext cx="2026920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Healthy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905714" y="7374612"/>
            <a:ext cx="3282553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BMI 18.5–24.9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9019" y="6866930"/>
            <a:ext cx="3652361" cy="914995"/>
          </a:xfrm>
          <a:prstGeom prst="roundRect">
            <a:avLst>
              <a:gd name="adj" fmla="val 7443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73923" y="7051834"/>
            <a:ext cx="2026920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Overweight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5673923" y="7374612"/>
            <a:ext cx="3282553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BMI 25–29.9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257228" y="6866930"/>
            <a:ext cx="3652361" cy="914995"/>
          </a:xfrm>
          <a:prstGeom prst="roundRect">
            <a:avLst>
              <a:gd name="adj" fmla="val 7443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442133" y="7051834"/>
            <a:ext cx="2026920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Obese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9442133" y="7374612"/>
            <a:ext cx="3282553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BMI ≥30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5904" y="1136571"/>
            <a:ext cx="1108948" cy="274082"/>
          </a:xfrm>
          <a:prstGeom prst="roundRect">
            <a:avLst>
              <a:gd name="adj" fmla="val 19823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662821" y="1185029"/>
            <a:ext cx="91511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5904" y="1456730"/>
            <a:ext cx="8012192" cy="101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Identification Strategy for LeanFit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04" y="2639973"/>
            <a:ext cx="808434" cy="9701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9591" y="2801660"/>
            <a:ext cx="202120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Calorie Burn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489591" y="3123367"/>
            <a:ext cx="70885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burning significant calories despite lower activity suggest inefficient metabolism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04" y="3610094"/>
            <a:ext cx="808434" cy="9701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9591" y="3771781"/>
            <a:ext cx="212359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Heart Rate Variability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489591" y="4093488"/>
            <a:ext cx="70885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Elevated or inconsistent heart rates indicate cardiovascular stress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04" y="4580215"/>
            <a:ext cx="808434" cy="9701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9591" y="4741902"/>
            <a:ext cx="2021205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Active Minutes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489591" y="5063609"/>
            <a:ext cx="70885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Minimal very active minutes despite device usage shows sedentary patterns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04" y="5550337"/>
            <a:ext cx="808434" cy="9701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9591" y="5712023"/>
            <a:ext cx="2030492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Weight Logs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489591" y="6033730"/>
            <a:ext cx="70885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Consistent weight tracking with elevated BMI indicates weight consciousness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65904" y="6650117"/>
            <a:ext cx="801219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These behavioural indicators collectively identify users actively monitoring health but struggling with weight management—ideal candidates for personalised diet plans.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350" y="877967"/>
            <a:ext cx="1299567" cy="381000"/>
          </a:xfrm>
          <a:prstGeom prst="roundRect">
            <a:avLst>
              <a:gd name="adj" fmla="val 17825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176" y="946190"/>
            <a:ext cx="1041916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7350" y="1331000"/>
            <a:ext cx="9627751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LeanFit Marketing Recommendations</a:t>
            </a:r>
            <a:endParaRPr lang="en-US" sz="3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50" y="2435304"/>
            <a:ext cx="8417600" cy="44811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06579" y="6758268"/>
            <a:ext cx="202049" cy="202049"/>
          </a:xfrm>
          <a:prstGeom prst="roundRect">
            <a:avLst>
              <a:gd name="adj" fmla="val 9051"/>
            </a:avLst>
          </a:prstGeom>
          <a:solidFill>
            <a:srgbClr val="351575"/>
          </a:solidFill>
          <a:ln/>
        </p:spPr>
      </p:sp>
      <p:sp>
        <p:nvSpPr>
          <p:cNvPr id="7" name="Text 4"/>
          <p:cNvSpPr/>
          <p:nvPr/>
        </p:nvSpPr>
        <p:spPr>
          <a:xfrm>
            <a:off x="1469588" y="6758268"/>
            <a:ext cx="1942028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Weight-Loss Potential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11084" y="6758268"/>
            <a:ext cx="202049" cy="202049"/>
          </a:xfrm>
          <a:prstGeom prst="roundRect">
            <a:avLst>
              <a:gd name="adj" fmla="val 9051"/>
            </a:avLst>
          </a:prstGeom>
          <a:solidFill>
            <a:srgbClr val="6226D7"/>
          </a:solidFill>
          <a:ln/>
        </p:spPr>
      </p:sp>
      <p:sp>
        <p:nvSpPr>
          <p:cNvPr id="9" name="Text 6"/>
          <p:cNvSpPr/>
          <p:nvPr/>
        </p:nvSpPr>
        <p:spPr>
          <a:xfrm>
            <a:off x="4174093" y="6758268"/>
            <a:ext cx="1747004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Maintenance Focus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20683" y="6758268"/>
            <a:ext cx="202049" cy="202049"/>
          </a:xfrm>
          <a:prstGeom prst="roundRect">
            <a:avLst>
              <a:gd name="adj" fmla="val 9051"/>
            </a:avLst>
          </a:prstGeom>
          <a:solidFill>
            <a:srgbClr val="A987EA"/>
          </a:solidFill>
          <a:ln/>
        </p:spPr>
      </p:sp>
      <p:sp>
        <p:nvSpPr>
          <p:cNvPr id="11" name="Text 8"/>
          <p:cNvSpPr/>
          <p:nvPr/>
        </p:nvSpPr>
        <p:spPr>
          <a:xfrm>
            <a:off x="6683693" y="6758268"/>
            <a:ext cx="1740218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Fitness Enthusiasts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625727" y="2574846"/>
            <a:ext cx="4304943" cy="122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Analysis reveals 35% of Fitbit users exhibit characteristics indicating weight-loss potential, representing a substantial untapped market for LeanFit's personalised diet plans.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625727" y="3977878"/>
            <a:ext cx="331398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Marketing Focus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625727" y="4473654"/>
            <a:ext cx="4304943" cy="24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Health improvement messaging emphasising long-term wellness benefits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Blood pressure control and cardiovascular health positioning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Sustainable fitness integration with dietary recommendations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Personalised targeting based on BMI and activity patterns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56722" y="759976"/>
            <a:ext cx="1096208" cy="340876"/>
          </a:xfrm>
          <a:prstGeom prst="roundRect">
            <a:avLst>
              <a:gd name="adj" fmla="val 18880"/>
            </a:avLst>
          </a:prstGeom>
          <a:solidFill>
            <a:srgbClr val="1E0C4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1617" y="853797"/>
            <a:ext cx="153114" cy="1531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01289" y="817364"/>
            <a:ext cx="63674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FITWEAR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7348657" y="752356"/>
            <a:ext cx="1092637" cy="356116"/>
          </a:xfrm>
          <a:prstGeom prst="roundRect">
            <a:avLst>
              <a:gd name="adj" fmla="val 18072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471172" y="817364"/>
            <a:ext cx="84760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SCENARIO 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56722" y="1173123"/>
            <a:ext cx="7803356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FitWear: Online Expansion Strategy</a:t>
            </a:r>
            <a:endParaRPr lang="en-US" sz="3750" dirty="0"/>
          </a:p>
        </p:txBody>
      </p:sp>
      <p:sp>
        <p:nvSpPr>
          <p:cNvPr id="9" name="Text 5"/>
          <p:cNvSpPr/>
          <p:nvPr/>
        </p:nvSpPr>
        <p:spPr>
          <a:xfrm>
            <a:off x="6156722" y="2612708"/>
            <a:ext cx="7803356" cy="84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FitWear aims to transition from offline retail to online sales, requiring precise identification of high-intent buyers based on fitness behaviour patterns captured through wearable device data.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56722" y="3642598"/>
            <a:ext cx="7803356" cy="1836420"/>
          </a:xfrm>
          <a:prstGeom prst="roundRect">
            <a:avLst>
              <a:gd name="adj" fmla="val 438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794" y="3841671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Enthusiasts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55794" y="4237911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Criteria: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≥20 active days per month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55794" y="4617601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Activity: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Average &gt;30 very active minutes daily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5794" y="4997291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Products: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Premium gear, advanced equipment, performance apparel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56722" y="5640705"/>
            <a:ext cx="7803356" cy="1836420"/>
          </a:xfrm>
          <a:prstGeom prst="roundRect">
            <a:avLst>
              <a:gd name="adj" fmla="val 438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794" y="5839778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Starters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6355794" y="6236018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Criteria: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≥20 active days per month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794" y="6615708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Activity: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Average &gt;60 fairly active minutes daily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794" y="6995398"/>
            <a:ext cx="740521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Products: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Entry-level gear, basic equipment, comfortable apparel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6171" y="453390"/>
            <a:ext cx="1322903" cy="273487"/>
          </a:xfrm>
          <a:prstGeom prst="roundRect">
            <a:avLst>
              <a:gd name="adj" fmla="val 19832"/>
            </a:avLst>
          </a:prstGeom>
          <a:solidFill>
            <a:srgbClr val="1E0C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2968" y="525542"/>
            <a:ext cx="129064" cy="129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6564" y="501729"/>
            <a:ext cx="935712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SLEEPY-NIGHTS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149679" y="445770"/>
            <a:ext cx="923330" cy="288727"/>
          </a:xfrm>
          <a:prstGeom prst="roundRect">
            <a:avLst>
              <a:gd name="adj" fmla="val 18785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54097" y="501729"/>
            <a:ext cx="71449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SCENARIO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46171" y="780336"/>
            <a:ext cx="7732038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Sleepy-Nights: Sleep Quality Targeting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1746171" y="3337560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Objective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46171" y="3704511"/>
            <a:ext cx="3642241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Increase subscription base by identifying users experiencing poor sleep quality or irregular sleep patterns who would benefit from sleep scheduling interventions.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746171" y="4703207"/>
            <a:ext cx="2850594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Sleep Deprivation Indicators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97" y="1586151"/>
            <a:ext cx="6087308" cy="45754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83205" y="3524698"/>
            <a:ext cx="1110152" cy="1015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Sleep Problem Users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443921" y="4854709"/>
            <a:ext cx="1651549" cy="50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bedtimes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443921" y="5434606"/>
            <a:ext cx="1651549" cy="34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Frequent bedtime shifts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571926" y="4854709"/>
            <a:ext cx="1651549" cy="50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sleep efficiency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71926" y="5434606"/>
            <a:ext cx="1651549" cy="34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 time asleep vs. in bed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485359" y="1853687"/>
            <a:ext cx="1696678" cy="50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Irregular sleep cycles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485359" y="2433584"/>
            <a:ext cx="1696678" cy="34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Variable sleep/wake timing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789890" y="6290786"/>
            <a:ext cx="71018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exhibiting these patterns combined with high device usage at night represent prime candidates for Sleepy-Nights app subscriptions offering personalised sleep scheduling solutions.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746171" y="6965275"/>
            <a:ext cx="363141" cy="363141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24088" y="7020758"/>
            <a:ext cx="2074426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Insufficient Duration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2224088" y="7341751"/>
            <a:ext cx="313896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Consistently sleeping less than 7 hours nightly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506641" y="6965275"/>
            <a:ext cx="363141" cy="363141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84557" y="7020758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Efficiency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5984557" y="7341751"/>
            <a:ext cx="3139083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 time in bed but low actual sleep duration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9267230" y="6965275"/>
            <a:ext cx="363141" cy="363141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745147" y="7020758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Irregular Schedules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9745147" y="7341751"/>
            <a:ext cx="313896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Inconsistent bedtimes and wake times throughout the week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2026-01-30T07:04:33Z</dcterms:created>
  <dcterms:modified xsi:type="dcterms:W3CDTF">2026-01-30T07:04:33Z</dcterms:modified>
</cp:coreProperties>
</file>